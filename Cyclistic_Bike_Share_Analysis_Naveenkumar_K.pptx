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74E7777-013E-4BE2-907D-5269531BFA1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30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88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17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95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75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49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6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53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29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2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5999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101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4506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391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685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14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274C-B17E-48E6-8E9E-B555733451C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76A94E-8976-485E-87B2-79048869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50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F904-7E27-4984-A7D0-7840EC3FC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Cyclistic Bike Share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354D1-3B38-4542-9CE0-606D0D9D9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8709" y="4229101"/>
            <a:ext cx="7766936" cy="1314450"/>
          </a:xfrm>
        </p:spPr>
        <p:txBody>
          <a:bodyPr>
            <a:normAutofit fontScale="40000" lnSpcReduction="20000"/>
          </a:bodyPr>
          <a:lstStyle/>
          <a:p>
            <a:r>
              <a:rPr lang="en-US" sz="5000" dirty="0"/>
              <a:t>How Do Members and Casual Riders Differ?</a:t>
            </a:r>
          </a:p>
          <a:p>
            <a:pPr algn="l"/>
            <a:endParaRPr lang="en-US" sz="3600" dirty="0"/>
          </a:p>
          <a:p>
            <a:pPr algn="l"/>
            <a:r>
              <a:rPr lang="en-US" sz="3500" dirty="0"/>
              <a:t>Prepared by : Naveenkumar K</a:t>
            </a:r>
          </a:p>
          <a:p>
            <a:pPr algn="l"/>
            <a:r>
              <a:rPr lang="en-US" sz="3500" dirty="0"/>
              <a:t>Google Data Analytics Capstone – May 2026</a:t>
            </a:r>
          </a:p>
        </p:txBody>
      </p:sp>
    </p:spTree>
    <p:extLst>
      <p:ext uri="{BB962C8B-B14F-4D97-AF65-F5344CB8AC3E}">
        <p14:creationId xmlns:p14="http://schemas.microsoft.com/office/powerpoint/2010/main" val="418325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2E69A5-D0B4-47FF-B58D-879FD4DAF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723840" cy="3200400"/>
          </a:xfrm>
        </p:spPr>
        <p:txBody>
          <a:bodyPr/>
          <a:lstStyle/>
          <a:p>
            <a:r>
              <a:rPr lang="en-IN" sz="3200" dirty="0"/>
              <a:t>Business Question:</a:t>
            </a:r>
            <a:br>
              <a:rPr lang="en-US" dirty="0"/>
            </a:br>
            <a:r>
              <a:rPr lang="en-US" sz="3600" dirty="0"/>
              <a:t>How do annual members and casual riders use Cyclistic bikes differently?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0A58B1-DC1C-4751-BBBF-C70BF781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: Identify insights to converts casual riders into annual members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86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CBBAC3C-AB3E-4CB2-BE9E-E6AACCDF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599"/>
            <a:ext cx="8596668" cy="4657725"/>
          </a:xfrm>
        </p:spPr>
        <p:txBody>
          <a:bodyPr>
            <a:normAutofit/>
          </a:bodyPr>
          <a:lstStyle/>
          <a:p>
            <a:r>
              <a:rPr lang="en-US" sz="3200" dirty="0"/>
              <a:t>Data Source : Cyclistic Historical Trip Data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   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12 months of trip data</a:t>
            </a:r>
            <a:b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-1,048,575 total rides analyzed</a:t>
            </a:r>
            <a:b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-Public dataset by Motivate International Inc.</a:t>
            </a:r>
            <a:b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-Variables : ride id ,ride type, start/end time,</a:t>
            </a:r>
            <a:b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1405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3C72D6-58A4-402D-845D-F40A620E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1152525"/>
            <a:ext cx="3941312" cy="1624545"/>
          </a:xfrm>
        </p:spPr>
        <p:txBody>
          <a:bodyPr>
            <a:normAutofit/>
          </a:bodyPr>
          <a:lstStyle/>
          <a:p>
            <a:r>
              <a:rPr lang="en-US" sz="2400" dirty="0"/>
              <a:t>Finding 1:Casual Riders Take Longer Rides</a:t>
            </a:r>
            <a:endParaRPr lang="en-IN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7910905-4EFE-4806-A224-981757BBE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060" y="1152525"/>
            <a:ext cx="4626689" cy="4419599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EC745E-A896-4169-8F6A-2AFCB6F4F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4028016" cy="307128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Adobe Devanagari" panose="02040503050201020203" pitchFamily="18" charset="0"/>
              </a:rPr>
              <a:t>Casual riders average 23.6 minutes per ride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Adobe Devanagari" panose="02040503050201020203" pitchFamily="18" charset="0"/>
              </a:rPr>
              <a:t>Members average only 12 minutes per ride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Adobe Devanagari" panose="02040503050201020203" pitchFamily="18" charset="0"/>
              </a:rPr>
              <a:t>Casual riders ride 2x longer than members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Adobe Devanagari" panose="02040503050201020203" pitchFamily="18" charset="0"/>
              </a:rPr>
              <a:t>  Suggests leisure usage vs commuter usage</a:t>
            </a:r>
          </a:p>
        </p:txBody>
      </p:sp>
    </p:spTree>
    <p:extLst>
      <p:ext uri="{BB962C8B-B14F-4D97-AF65-F5344CB8AC3E}">
        <p14:creationId xmlns:p14="http://schemas.microsoft.com/office/powerpoint/2010/main" val="192068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A3197F-5179-4746-88A7-B956C284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219200"/>
            <a:ext cx="3998462" cy="1557870"/>
          </a:xfrm>
        </p:spPr>
        <p:txBody>
          <a:bodyPr>
            <a:normAutofit/>
          </a:bodyPr>
          <a:lstStyle/>
          <a:p>
            <a:r>
              <a:rPr lang="en-US" sz="2400" dirty="0"/>
              <a:t>Finding 2: Members Take More Total Rides</a:t>
            </a:r>
            <a:endParaRPr lang="en-IN" sz="2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27BE9FF-1E54-4114-97D7-CEBD52371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75" y="1438276"/>
            <a:ext cx="4267256" cy="4105274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090D2B-549C-459A-9ED3-D0A724786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Members: 689,092 rides (65.7%)</a:t>
            </a:r>
          </a:p>
          <a:p>
            <a:r>
              <a:rPr lang="en-US" sz="2000" dirty="0"/>
              <a:t>Casual: 359,483 rides (34.3%)</a:t>
            </a:r>
          </a:p>
          <a:p>
            <a:r>
              <a:rPr lang="en-US" sz="2000" dirty="0"/>
              <a:t>Members are more frequent and consistent users</a:t>
            </a:r>
          </a:p>
          <a:p>
            <a:r>
              <a:rPr lang="en-US" sz="2000" dirty="0"/>
              <a:t>→ Annual membership drives higher engagement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67636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A41E-86B6-4279-B3FC-28157EDD8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12879"/>
            <a:ext cx="3854528" cy="1278466"/>
          </a:xfrm>
        </p:spPr>
        <p:txBody>
          <a:bodyPr>
            <a:normAutofit/>
          </a:bodyPr>
          <a:lstStyle/>
          <a:p>
            <a:r>
              <a:rPr lang="en-US" sz="2400" dirty="0"/>
              <a:t>Finding 3: Different Usage Patterns by Day</a:t>
            </a:r>
            <a:endParaRPr lang="en-IN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DB3B5C-0B9D-43CC-B789-3FF3E5183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862" y="1496483"/>
            <a:ext cx="5107439" cy="372321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B461A-06EA-48CB-964A-BCE013366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2691345"/>
            <a:ext cx="3854528" cy="2985555"/>
          </a:xfrm>
        </p:spPr>
        <p:txBody>
          <a:bodyPr>
            <a:noAutofit/>
          </a:bodyPr>
          <a:lstStyle/>
          <a:p>
            <a:r>
              <a:rPr lang="en-US" sz="2000" dirty="0"/>
              <a:t>Members peak Tuesday-Thursday (commuters) </a:t>
            </a:r>
          </a:p>
          <a:p>
            <a:r>
              <a:rPr lang="en-US" sz="2000" dirty="0"/>
              <a:t>Casual riders peak Saturday-Sunday (leisure) Weekend </a:t>
            </a:r>
          </a:p>
          <a:p>
            <a:r>
              <a:rPr lang="en-US" sz="2000" dirty="0"/>
              <a:t>casual rides nearly equal members </a:t>
            </a:r>
          </a:p>
          <a:p>
            <a:r>
              <a:rPr lang="en-US" sz="2000" dirty="0"/>
              <a:t>→ Clear behavioral difference between groups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0101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9E8FC2-AACD-428B-B9FB-1C338960AD5E}"/>
              </a:ext>
            </a:extLst>
          </p:cNvPr>
          <p:cNvSpPr/>
          <p:nvPr/>
        </p:nvSpPr>
        <p:spPr>
          <a:xfrm>
            <a:off x="1009651" y="1443841"/>
            <a:ext cx="7219949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1"/>
                </a:solidFill>
              </a:rPr>
              <a:t>Recommendation 1:</a:t>
            </a:r>
          </a:p>
          <a:p>
            <a:r>
              <a:rPr lang="en-IN" dirty="0"/>
              <a:t>Weekend Membership Campaign — Target casual</a:t>
            </a:r>
          </a:p>
          <a:p>
            <a:r>
              <a:rPr lang="en-IN" dirty="0"/>
              <a:t>riders on Saturday/Sunday with discounted</a:t>
            </a:r>
          </a:p>
          <a:p>
            <a:r>
              <a:rPr lang="en-IN" dirty="0"/>
              <a:t>annual membership offers at docking stations</a:t>
            </a:r>
          </a:p>
          <a:p>
            <a:endParaRPr lang="en-IN" dirty="0"/>
          </a:p>
          <a:p>
            <a:r>
              <a:rPr lang="en-IN" sz="2000" dirty="0">
                <a:solidFill>
                  <a:schemeClr val="accent1"/>
                </a:solidFill>
              </a:rPr>
              <a:t>Recommendation 2:</a:t>
            </a:r>
          </a:p>
          <a:p>
            <a:r>
              <a:rPr lang="en-IN" dirty="0"/>
              <a:t>Commuter Conversion Campaign — Show casual</a:t>
            </a:r>
          </a:p>
          <a:p>
            <a:r>
              <a:rPr lang="en-IN" dirty="0"/>
              <a:t>riders cost savings of annual membership</a:t>
            </a:r>
          </a:p>
          <a:p>
            <a:r>
              <a:rPr lang="en-IN" dirty="0"/>
              <a:t>vs single ride passes for regular commuters</a:t>
            </a:r>
          </a:p>
          <a:p>
            <a:endParaRPr lang="en-IN" dirty="0"/>
          </a:p>
          <a:p>
            <a:r>
              <a:rPr lang="en-IN" sz="2000" dirty="0">
                <a:solidFill>
                  <a:schemeClr val="accent1"/>
                </a:solidFill>
              </a:rPr>
              <a:t>Recommendation 3:</a:t>
            </a:r>
          </a:p>
          <a:p>
            <a:r>
              <a:rPr lang="en-IN" dirty="0"/>
              <a:t>Digital Media Strategy — Run targeted ads</a:t>
            </a:r>
          </a:p>
          <a:p>
            <a:r>
              <a:rPr lang="en-IN" dirty="0"/>
              <a:t>on Friday evenings and weekends when casual</a:t>
            </a:r>
          </a:p>
          <a:p>
            <a:r>
              <a:rPr lang="en-IN" dirty="0"/>
              <a:t>riders are most active and planning rides</a:t>
            </a:r>
          </a:p>
        </p:txBody>
      </p:sp>
    </p:spTree>
    <p:extLst>
      <p:ext uri="{BB962C8B-B14F-4D97-AF65-F5344CB8AC3E}">
        <p14:creationId xmlns:p14="http://schemas.microsoft.com/office/powerpoint/2010/main" val="51922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110AFC-79EA-4ED2-819D-5BE771E76FDF}"/>
              </a:ext>
            </a:extLst>
          </p:cNvPr>
          <p:cNvSpPr/>
          <p:nvPr/>
        </p:nvSpPr>
        <p:spPr>
          <a:xfrm>
            <a:off x="1381124" y="1316415"/>
            <a:ext cx="620077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1"/>
                </a:solidFill>
              </a:rPr>
              <a:t>Key Takeaway:</a:t>
            </a:r>
          </a:p>
          <a:p>
            <a:r>
              <a:rPr lang="en-IN" dirty="0"/>
              <a:t>Casual riders and members have distinctly</a:t>
            </a:r>
          </a:p>
          <a:p>
            <a:r>
              <a:rPr lang="en-IN" dirty="0"/>
              <a:t>different usage patterns.</a:t>
            </a:r>
          </a:p>
          <a:p>
            <a:endParaRPr lang="en-IN" dirty="0"/>
          </a:p>
          <a:p>
            <a:r>
              <a:rPr lang="en-IN" dirty="0"/>
              <a:t>Converting casual weekend leisure riders</a:t>
            </a:r>
          </a:p>
          <a:p>
            <a:r>
              <a:rPr lang="en-IN" dirty="0"/>
              <a:t>into annual members requires targeted</a:t>
            </a:r>
          </a:p>
          <a:p>
            <a:r>
              <a:rPr lang="en-IN" dirty="0"/>
              <a:t>weekend promotions and digital campaigns</a:t>
            </a:r>
          </a:p>
          <a:p>
            <a:r>
              <a:rPr lang="en-IN" dirty="0"/>
              <a:t>highlighting long-term value.</a:t>
            </a:r>
          </a:p>
          <a:p>
            <a:endParaRPr lang="en-IN" dirty="0"/>
          </a:p>
          <a:p>
            <a:r>
              <a:rPr lang="en-IN" dirty="0"/>
              <a:t>Thank You</a:t>
            </a:r>
          </a:p>
          <a:p>
            <a:r>
              <a:rPr lang="en-IN" sz="1600" dirty="0"/>
              <a:t>Naveenkumar K | Google Data Analytics Certificate</a:t>
            </a:r>
          </a:p>
        </p:txBody>
      </p:sp>
    </p:spTree>
    <p:extLst>
      <p:ext uri="{BB962C8B-B14F-4D97-AF65-F5344CB8AC3E}">
        <p14:creationId xmlns:p14="http://schemas.microsoft.com/office/powerpoint/2010/main" val="4922837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</TotalTime>
  <Words>315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Adobe Devanagari</vt:lpstr>
      <vt:lpstr>Arial</vt:lpstr>
      <vt:lpstr>Trebuchet MS</vt:lpstr>
      <vt:lpstr>Wingdings</vt:lpstr>
      <vt:lpstr>Wingdings 3</vt:lpstr>
      <vt:lpstr>Facet</vt:lpstr>
      <vt:lpstr>Cyclistic Bike Share Analysis</vt:lpstr>
      <vt:lpstr>Business Question: How do annual members and casual riders use Cyclistic bikes differently?</vt:lpstr>
      <vt:lpstr>Data Source : Cyclistic Historical Trip Data       -12 months of trip data  -1,048,575 total rides analyzed  -Public dataset by Motivate International Inc.  -Variables : ride id ,ride type, start/end time,  </vt:lpstr>
      <vt:lpstr>Finding 1:Casual Riders Take Longer Rides</vt:lpstr>
      <vt:lpstr>Finding 2: Members Take More Total Rides</vt:lpstr>
      <vt:lpstr>Finding 3: Different Usage Patterns by Day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 Share Analysis</dc:title>
  <dc:creator>Smile</dc:creator>
  <cp:lastModifiedBy>Smile</cp:lastModifiedBy>
  <cp:revision>6</cp:revision>
  <dcterms:created xsi:type="dcterms:W3CDTF">2026-05-05T10:36:42Z</dcterms:created>
  <dcterms:modified xsi:type="dcterms:W3CDTF">2026-05-05T11:22:43Z</dcterms:modified>
</cp:coreProperties>
</file>